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nton" pitchFamily="2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Glacial Indifferenc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91973" y="2454606"/>
            <a:ext cx="4867327" cy="6089659"/>
          </a:xfrm>
          <a:custGeom>
            <a:avLst/>
            <a:gdLst/>
            <a:ahLst/>
            <a:cxnLst/>
            <a:rect l="l" t="t" r="r" b="b"/>
            <a:pathLst>
              <a:path w="4867327" h="6089659">
                <a:moveTo>
                  <a:pt x="0" y="0"/>
                </a:moveTo>
                <a:lnTo>
                  <a:pt x="4867327" y="0"/>
                </a:lnTo>
                <a:lnTo>
                  <a:pt x="4867327" y="6089659"/>
                </a:lnTo>
                <a:lnTo>
                  <a:pt x="0" y="60896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6140" y="1063978"/>
            <a:ext cx="12208474" cy="262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2"/>
              </a:lnSpc>
              <a:spcBef>
                <a:spcPct val="0"/>
              </a:spcBef>
            </a:pPr>
            <a:r>
              <a:rPr lang="en-US" sz="7501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WEEK - 4 Cyber Security Internship Task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381611"/>
            <a:ext cx="1036887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: B SAI AMULYA GOUD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SIN : DG/SEPTEMBER/CYBER/179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5587" y="6225103"/>
            <a:ext cx="1091175" cy="1091175"/>
          </a:xfrm>
          <a:custGeom>
            <a:avLst/>
            <a:gdLst/>
            <a:ahLst/>
            <a:cxnLst/>
            <a:rect l="l" t="t" r="r" b="b"/>
            <a:pathLst>
              <a:path w="1091175" h="1091175">
                <a:moveTo>
                  <a:pt x="0" y="0"/>
                </a:moveTo>
                <a:lnTo>
                  <a:pt x="1091174" y="0"/>
                </a:lnTo>
                <a:lnTo>
                  <a:pt x="1091174" y="1091175"/>
                </a:lnTo>
                <a:lnTo>
                  <a:pt x="0" y="109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82072" y="5478145"/>
            <a:ext cx="6359709" cy="4239806"/>
          </a:xfrm>
          <a:custGeom>
            <a:avLst/>
            <a:gdLst/>
            <a:ahLst/>
            <a:cxnLst/>
            <a:rect l="l" t="t" r="r" b="b"/>
            <a:pathLst>
              <a:path w="6359709" h="4239806">
                <a:moveTo>
                  <a:pt x="0" y="0"/>
                </a:moveTo>
                <a:lnTo>
                  <a:pt x="6359709" y="0"/>
                </a:lnTo>
                <a:lnTo>
                  <a:pt x="6359709" y="4239806"/>
                </a:lnTo>
                <a:lnTo>
                  <a:pt x="0" y="423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5587" y="268288"/>
            <a:ext cx="1220847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NETWORK SETUP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897" y="2162088"/>
            <a:ext cx="2309812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Objective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4871" y="2967585"/>
            <a:ext cx="13912489" cy="137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616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A minimal two-machine virtual network, confirm the machines can talk to each other, and run a first, non-destructive pass of security checks: reachability, service/version scanning, and traffic analysis.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897" y="4732655"/>
            <a:ext cx="3298627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Lab Topology 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81485" y="2136885"/>
            <a:ext cx="3251783" cy="33045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7411" y="268288"/>
            <a:ext cx="11910300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Tools Used 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41691" y="2136886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16816" y="2057399"/>
            <a:ext cx="3251783" cy="330453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81486" y="5972175"/>
            <a:ext cx="3086100" cy="30861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0" y="6012568"/>
            <a:ext cx="3511003" cy="3321931"/>
            <a:chOff x="0" y="0"/>
            <a:chExt cx="855071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5071" cy="812800"/>
            </a:xfrm>
            <a:custGeom>
              <a:avLst/>
              <a:gdLst/>
              <a:ahLst/>
              <a:cxnLst/>
              <a:rect l="l" t="t" r="r" b="b"/>
              <a:pathLst>
                <a:path w="855071" h="812800">
                  <a:moveTo>
                    <a:pt x="121616" y="0"/>
                  </a:moveTo>
                  <a:lnTo>
                    <a:pt x="733455" y="0"/>
                  </a:lnTo>
                  <a:cubicBezTo>
                    <a:pt x="765709" y="0"/>
                    <a:pt x="796643" y="12813"/>
                    <a:pt x="819450" y="35620"/>
                  </a:cubicBezTo>
                  <a:cubicBezTo>
                    <a:pt x="842258" y="58428"/>
                    <a:pt x="855071" y="89361"/>
                    <a:pt x="855071" y="121616"/>
                  </a:cubicBezTo>
                  <a:lnTo>
                    <a:pt x="855071" y="691184"/>
                  </a:lnTo>
                  <a:cubicBezTo>
                    <a:pt x="855071" y="723439"/>
                    <a:pt x="842258" y="754372"/>
                    <a:pt x="819450" y="777179"/>
                  </a:cubicBezTo>
                  <a:cubicBezTo>
                    <a:pt x="796643" y="799987"/>
                    <a:pt x="765709" y="812800"/>
                    <a:pt x="733455" y="812800"/>
                  </a:cubicBezTo>
                  <a:lnTo>
                    <a:pt x="121616" y="812800"/>
                  </a:lnTo>
                  <a:cubicBezTo>
                    <a:pt x="89361" y="812800"/>
                    <a:pt x="58428" y="799987"/>
                    <a:pt x="35620" y="777179"/>
                  </a:cubicBezTo>
                  <a:cubicBezTo>
                    <a:pt x="12813" y="754372"/>
                    <a:pt x="0" y="723439"/>
                    <a:pt x="0" y="691184"/>
                  </a:cubicBezTo>
                  <a:lnTo>
                    <a:pt x="0" y="121616"/>
                  </a:lnTo>
                  <a:cubicBezTo>
                    <a:pt x="0" y="89361"/>
                    <a:pt x="12813" y="58428"/>
                    <a:pt x="35620" y="35620"/>
                  </a:cubicBezTo>
                  <a:cubicBezTo>
                    <a:pt x="58428" y="12813"/>
                    <a:pt x="89361" y="0"/>
                    <a:pt x="121616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55071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51134" y="5934074"/>
            <a:ext cx="3251783" cy="362902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844542" y="2626293"/>
            <a:ext cx="2759988" cy="214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sz="270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VirtualBox – </a:t>
            </a:r>
          </a:p>
          <a:p>
            <a:pPr algn="just">
              <a:lnSpc>
                <a:spcPts val="3348"/>
              </a:lnSpc>
            </a:pPr>
            <a:r>
              <a:rPr lang="en-US" sz="23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to create and</a:t>
            </a:r>
          </a:p>
          <a:p>
            <a:pPr algn="l">
              <a:lnSpc>
                <a:spcPts val="3348"/>
              </a:lnSpc>
            </a:pPr>
            <a:r>
              <a:rPr lang="en-US" sz="23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run the isolated </a:t>
            </a:r>
          </a:p>
          <a:p>
            <a:pPr algn="l">
              <a:lnSpc>
                <a:spcPts val="3348"/>
              </a:lnSpc>
            </a:pPr>
            <a:r>
              <a:rPr lang="en-US" sz="23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cybersecurity lab </a:t>
            </a:r>
          </a:p>
          <a:p>
            <a:pPr algn="l">
              <a:lnSpc>
                <a:spcPts val="3348"/>
              </a:lnSpc>
            </a:pPr>
            <a:r>
              <a:rPr lang="en-US" sz="23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environment.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9539" y="2518377"/>
            <a:ext cx="2738252" cy="267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3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Kali Linux – </a:t>
            </a:r>
          </a:p>
          <a:p>
            <a:pPr algn="l">
              <a:lnSpc>
                <a:spcPts val="3277"/>
              </a:lnSpc>
            </a:pPr>
            <a:r>
              <a:rPr lang="en-US" sz="23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as the attacker/security testing machine.</a:t>
            </a:r>
          </a:p>
          <a:p>
            <a:pPr algn="ctr">
              <a:lnSpc>
                <a:spcPts val="4223"/>
              </a:lnSpc>
            </a:pPr>
            <a:endParaRPr lang="en-US" sz="234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23"/>
              </a:lnSpc>
            </a:pPr>
            <a:endParaRPr lang="en-US" sz="234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437711" y="2381885"/>
            <a:ext cx="2624852" cy="238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Windows 7 –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Used as the target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machine for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hosting services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security testing.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81486" y="6337054"/>
            <a:ext cx="3086100" cy="15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Nginx–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Used to host a basic web service on the target machine.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6860" y="6337054"/>
            <a:ext cx="3041690" cy="238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Nmap –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for network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scanning,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port discovery,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 identification.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05539" y="6337054"/>
            <a:ext cx="2857024" cy="1989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Wireshark – </a:t>
            </a:r>
          </a:p>
          <a:p>
            <a:pPr algn="l">
              <a:lnSpc>
                <a:spcPts val="3220"/>
              </a:lnSpc>
            </a:pPr>
            <a:r>
              <a:rPr lang="en-US" sz="2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to capture and</a:t>
            </a:r>
          </a:p>
          <a:p>
            <a:pPr algn="l">
              <a:lnSpc>
                <a:spcPts val="3220"/>
              </a:lnSpc>
            </a:pPr>
            <a:r>
              <a:rPr lang="en-US" sz="2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analyze network </a:t>
            </a:r>
          </a:p>
          <a:p>
            <a:pPr algn="l">
              <a:lnSpc>
                <a:spcPts val="3220"/>
              </a:lnSpc>
            </a:pPr>
            <a:r>
              <a:rPr lang="en-US" sz="2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traffic such as HTTP,</a:t>
            </a:r>
          </a:p>
          <a:p>
            <a:pPr algn="l">
              <a:lnSpc>
                <a:spcPts val="3220"/>
              </a:lnSpc>
            </a:pPr>
            <a:r>
              <a:rPr lang="en-US" sz="2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DNS, and ICMP.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4535" y="2805577"/>
            <a:ext cx="6330078" cy="3362854"/>
          </a:xfrm>
          <a:custGeom>
            <a:avLst/>
            <a:gdLst/>
            <a:ahLst/>
            <a:cxnLst/>
            <a:rect l="l" t="t" r="r" b="b"/>
            <a:pathLst>
              <a:path w="6330078" h="3362854">
                <a:moveTo>
                  <a:pt x="0" y="0"/>
                </a:moveTo>
                <a:lnTo>
                  <a:pt x="6330078" y="0"/>
                </a:lnTo>
                <a:lnTo>
                  <a:pt x="6330078" y="3362854"/>
                </a:lnTo>
                <a:lnTo>
                  <a:pt x="0" y="336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9269" y="2896301"/>
            <a:ext cx="6159303" cy="3272130"/>
          </a:xfrm>
          <a:custGeom>
            <a:avLst/>
            <a:gdLst/>
            <a:ahLst/>
            <a:cxnLst/>
            <a:rect l="l" t="t" r="r" b="b"/>
            <a:pathLst>
              <a:path w="6159303" h="3272130">
                <a:moveTo>
                  <a:pt x="0" y="0"/>
                </a:moveTo>
                <a:lnTo>
                  <a:pt x="6159303" y="0"/>
                </a:lnTo>
                <a:lnTo>
                  <a:pt x="6159303" y="3272130"/>
                </a:lnTo>
                <a:lnTo>
                  <a:pt x="0" y="3272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0306" y="371874"/>
            <a:ext cx="12968614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TASK 1 - Setup Basic Network</a:t>
            </a:r>
          </a:p>
        </p:txBody>
      </p:sp>
      <p:sp>
        <p:nvSpPr>
          <p:cNvPr id="5" name="Freeform 5"/>
          <p:cNvSpPr/>
          <p:nvPr/>
        </p:nvSpPr>
        <p:spPr>
          <a:xfrm>
            <a:off x="581523" y="7480087"/>
            <a:ext cx="7713626" cy="2288275"/>
          </a:xfrm>
          <a:custGeom>
            <a:avLst/>
            <a:gdLst/>
            <a:ahLst/>
            <a:cxnLst/>
            <a:rect l="l" t="t" r="r" b="b"/>
            <a:pathLst>
              <a:path w="7713626" h="2288275">
                <a:moveTo>
                  <a:pt x="0" y="0"/>
                </a:moveTo>
                <a:lnTo>
                  <a:pt x="7713626" y="0"/>
                </a:lnTo>
                <a:lnTo>
                  <a:pt x="7713626" y="2288276"/>
                </a:lnTo>
                <a:lnTo>
                  <a:pt x="0" y="228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5" b="-264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93394" y="7304422"/>
            <a:ext cx="5125624" cy="2463940"/>
          </a:xfrm>
          <a:custGeom>
            <a:avLst/>
            <a:gdLst/>
            <a:ahLst/>
            <a:cxnLst/>
            <a:rect l="l" t="t" r="r" b="b"/>
            <a:pathLst>
              <a:path w="5125624" h="2463940">
                <a:moveTo>
                  <a:pt x="0" y="0"/>
                </a:moveTo>
                <a:lnTo>
                  <a:pt x="5125624" y="0"/>
                </a:lnTo>
                <a:lnTo>
                  <a:pt x="5125624" y="2463941"/>
                </a:lnTo>
                <a:lnTo>
                  <a:pt x="0" y="246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103" t="-30887" r="-165103" b="-23403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826216"/>
            <a:ext cx="60579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NETWORK CONNECTION CHECK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1523" y="6501806"/>
            <a:ext cx="212645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IP ADDRESS 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2155" y="1963512"/>
            <a:ext cx="10850942" cy="2888145"/>
          </a:xfrm>
          <a:custGeom>
            <a:avLst/>
            <a:gdLst/>
            <a:ahLst/>
            <a:cxnLst/>
            <a:rect l="l" t="t" r="r" b="b"/>
            <a:pathLst>
              <a:path w="10850942" h="2888145">
                <a:moveTo>
                  <a:pt x="0" y="0"/>
                </a:moveTo>
                <a:lnTo>
                  <a:pt x="10850942" y="0"/>
                </a:lnTo>
                <a:lnTo>
                  <a:pt x="10850942" y="2888145"/>
                </a:lnTo>
                <a:lnTo>
                  <a:pt x="0" y="288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65851" y="5289807"/>
            <a:ext cx="7716062" cy="3856076"/>
          </a:xfrm>
          <a:custGeom>
            <a:avLst/>
            <a:gdLst/>
            <a:ahLst/>
            <a:cxnLst/>
            <a:rect l="l" t="t" r="r" b="b"/>
            <a:pathLst>
              <a:path w="7716062" h="3856076">
                <a:moveTo>
                  <a:pt x="0" y="0"/>
                </a:moveTo>
                <a:lnTo>
                  <a:pt x="7716062" y="0"/>
                </a:lnTo>
                <a:lnTo>
                  <a:pt x="7716062" y="3856076"/>
                </a:lnTo>
                <a:lnTo>
                  <a:pt x="0" y="38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022" t="-16495" r="-32656" b="-58565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223243" y="1859875"/>
            <a:ext cx="3060191" cy="3656102"/>
            <a:chOff x="0" y="0"/>
            <a:chExt cx="805976" cy="9629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5976" cy="962924"/>
            </a:xfrm>
            <a:custGeom>
              <a:avLst/>
              <a:gdLst/>
              <a:ahLst/>
              <a:cxnLst/>
              <a:rect l="l" t="t" r="r" b="b"/>
              <a:pathLst>
                <a:path w="805976" h="962924">
                  <a:moveTo>
                    <a:pt x="129024" y="0"/>
                  </a:moveTo>
                  <a:lnTo>
                    <a:pt x="676952" y="0"/>
                  </a:lnTo>
                  <a:cubicBezTo>
                    <a:pt x="748210" y="0"/>
                    <a:pt x="805976" y="57766"/>
                    <a:pt x="805976" y="129024"/>
                  </a:cubicBezTo>
                  <a:lnTo>
                    <a:pt x="805976" y="833900"/>
                  </a:lnTo>
                  <a:cubicBezTo>
                    <a:pt x="805976" y="905158"/>
                    <a:pt x="748210" y="962924"/>
                    <a:pt x="676952" y="962924"/>
                  </a:cubicBezTo>
                  <a:lnTo>
                    <a:pt x="129024" y="962924"/>
                  </a:lnTo>
                  <a:cubicBezTo>
                    <a:pt x="94805" y="962924"/>
                    <a:pt x="61987" y="949330"/>
                    <a:pt x="37790" y="925134"/>
                  </a:cubicBezTo>
                  <a:cubicBezTo>
                    <a:pt x="13594" y="900937"/>
                    <a:pt x="0" y="868119"/>
                    <a:pt x="0" y="833900"/>
                  </a:cubicBezTo>
                  <a:lnTo>
                    <a:pt x="0" y="129024"/>
                  </a:lnTo>
                  <a:cubicBezTo>
                    <a:pt x="0" y="57766"/>
                    <a:pt x="57766" y="0"/>
                    <a:pt x="129024" y="0"/>
                  </a:cubicBezTo>
                  <a:close/>
                </a:path>
              </a:pathLst>
            </a:custGeom>
            <a:solidFill>
              <a:srgbClr val="2D598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05976" cy="1010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4708" y="153367"/>
            <a:ext cx="14969865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Task 2 - Install &amp; Configure Services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23243" y="2068922"/>
            <a:ext cx="308610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NGNIX -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Used to host a basic web service on the target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7099" y="1933736"/>
            <a:ext cx="11253786" cy="2895879"/>
          </a:xfrm>
          <a:custGeom>
            <a:avLst/>
            <a:gdLst/>
            <a:ahLst/>
            <a:cxnLst/>
            <a:rect l="l" t="t" r="r" b="b"/>
            <a:pathLst>
              <a:path w="11253786" h="2895879">
                <a:moveTo>
                  <a:pt x="0" y="0"/>
                </a:moveTo>
                <a:lnTo>
                  <a:pt x="11253785" y="0"/>
                </a:lnTo>
                <a:lnTo>
                  <a:pt x="11253785" y="2895879"/>
                </a:lnTo>
                <a:lnTo>
                  <a:pt x="0" y="2895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68516" y="5182040"/>
            <a:ext cx="11648236" cy="3954805"/>
          </a:xfrm>
          <a:custGeom>
            <a:avLst/>
            <a:gdLst/>
            <a:ahLst/>
            <a:cxnLst/>
            <a:rect l="l" t="t" r="r" b="b"/>
            <a:pathLst>
              <a:path w="11648236" h="3954805">
                <a:moveTo>
                  <a:pt x="0" y="0"/>
                </a:moveTo>
                <a:lnTo>
                  <a:pt x="11648235" y="0"/>
                </a:lnTo>
                <a:lnTo>
                  <a:pt x="11648235" y="3954805"/>
                </a:lnTo>
                <a:lnTo>
                  <a:pt x="0" y="3954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4120" y="213577"/>
            <a:ext cx="1504653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TASK 3 - Network Scanning (Nmap)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49024" y="2816603"/>
            <a:ext cx="5660076" cy="3006916"/>
          </a:xfrm>
          <a:custGeom>
            <a:avLst/>
            <a:gdLst/>
            <a:ahLst/>
            <a:cxnLst/>
            <a:rect l="l" t="t" r="r" b="b"/>
            <a:pathLst>
              <a:path w="5660076" h="3006916">
                <a:moveTo>
                  <a:pt x="0" y="0"/>
                </a:moveTo>
                <a:lnTo>
                  <a:pt x="5660076" y="0"/>
                </a:lnTo>
                <a:lnTo>
                  <a:pt x="5660076" y="3006916"/>
                </a:lnTo>
                <a:lnTo>
                  <a:pt x="0" y="3006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31334" y="2832034"/>
            <a:ext cx="5631030" cy="2991485"/>
          </a:xfrm>
          <a:custGeom>
            <a:avLst/>
            <a:gdLst/>
            <a:ahLst/>
            <a:cxnLst/>
            <a:rect l="l" t="t" r="r" b="b"/>
            <a:pathLst>
              <a:path w="5631030" h="2991485">
                <a:moveTo>
                  <a:pt x="0" y="0"/>
                </a:moveTo>
                <a:lnTo>
                  <a:pt x="5631030" y="0"/>
                </a:lnTo>
                <a:lnTo>
                  <a:pt x="5631030" y="2991485"/>
                </a:lnTo>
                <a:lnTo>
                  <a:pt x="0" y="2991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6295" y="6734088"/>
            <a:ext cx="5660076" cy="3006916"/>
          </a:xfrm>
          <a:custGeom>
            <a:avLst/>
            <a:gdLst/>
            <a:ahLst/>
            <a:cxnLst/>
            <a:rect l="l" t="t" r="r" b="b"/>
            <a:pathLst>
              <a:path w="5660076" h="3006916">
                <a:moveTo>
                  <a:pt x="0" y="0"/>
                </a:moveTo>
                <a:lnTo>
                  <a:pt x="5660076" y="0"/>
                </a:lnTo>
                <a:lnTo>
                  <a:pt x="5660076" y="3006916"/>
                </a:lnTo>
                <a:lnTo>
                  <a:pt x="0" y="3006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721523" y="6535661"/>
            <a:ext cx="6040841" cy="3209197"/>
          </a:xfrm>
          <a:custGeom>
            <a:avLst/>
            <a:gdLst/>
            <a:ahLst/>
            <a:cxnLst/>
            <a:rect l="l" t="t" r="r" b="b"/>
            <a:pathLst>
              <a:path w="6040841" h="3209197">
                <a:moveTo>
                  <a:pt x="0" y="0"/>
                </a:moveTo>
                <a:lnTo>
                  <a:pt x="6040841" y="0"/>
                </a:lnTo>
                <a:lnTo>
                  <a:pt x="6040841" y="3209197"/>
                </a:lnTo>
                <a:lnTo>
                  <a:pt x="0" y="3209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68292"/>
            <a:ext cx="14808994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TASK 4 -  Traffic Analysis (Wireshark)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8446" y="1929158"/>
            <a:ext cx="87141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ARP 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33714" y="2014141"/>
            <a:ext cx="106787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HTTP 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6295" y="5955271"/>
            <a:ext cx="93356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DNS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66143" y="5856057"/>
            <a:ext cx="113514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ICMP :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2554" y="1202167"/>
            <a:ext cx="14899753" cy="7912863"/>
          </a:xfrm>
          <a:custGeom>
            <a:avLst/>
            <a:gdLst/>
            <a:ahLst/>
            <a:cxnLst/>
            <a:rect l="l" t="t" r="r" b="b"/>
            <a:pathLst>
              <a:path w="14899753" h="7912863">
                <a:moveTo>
                  <a:pt x="0" y="0"/>
                </a:moveTo>
                <a:lnTo>
                  <a:pt x="14899752" y="0"/>
                </a:lnTo>
                <a:lnTo>
                  <a:pt x="14899752" y="7912863"/>
                </a:lnTo>
                <a:lnTo>
                  <a:pt x="0" y="7912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33084"/>
            <a:ext cx="11549658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TASK 5 - MINI PROJECT OUTPUT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83869" y="2444265"/>
            <a:ext cx="10093880" cy="730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I set up a bridged virtual lab network from scratch 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 I verified host-to-host reachability with ping and curl 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 I found open ports and running services using Nmap 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Read and filtered live traffic in Wireshark 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Recognized everyday risks like cleartext protocols 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I understood why testing must stay inside an authorized lab 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61344" lvl="1" indent="-280672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It also reinforced a simple rule for any future testing: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 scope everything to a lab that has been explicitly built and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D5986"/>
                </a:solidFill>
                <a:latin typeface="Canva Sans"/>
                <a:ea typeface="Canva Sans"/>
                <a:cs typeface="Canva Sans"/>
                <a:sym typeface="Canva Sans"/>
              </a:rPr>
              <a:t>  authorized for it.</a:t>
            </a:r>
          </a:p>
          <a:p>
            <a:pPr algn="ctr">
              <a:lnSpc>
                <a:spcPts val="3640"/>
              </a:lnSpc>
            </a:pPr>
            <a:endParaRPr lang="en-US" sz="2600">
              <a:solidFill>
                <a:srgbClr val="2D5986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8526" y="3273734"/>
            <a:ext cx="7441068" cy="246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0"/>
              </a:lnSpc>
              <a:spcBef>
                <a:spcPct val="0"/>
              </a:spcBef>
            </a:pPr>
            <a:r>
              <a:rPr lang="en-US" sz="144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312</Words>
  <Application>Microsoft Office PowerPoint</Application>
  <PresentationFormat>Custom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Glacial Indifference</vt:lpstr>
      <vt:lpstr>Arial</vt:lpstr>
      <vt:lpstr>Canva Sans</vt:lpstr>
      <vt:lpstr>Anton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</dc:title>
  <dc:creator>Sai Amulya</dc:creator>
  <cp:lastModifiedBy>Sai Amulya</cp:lastModifiedBy>
  <cp:revision>2</cp:revision>
  <dcterms:created xsi:type="dcterms:W3CDTF">2006-08-16T00:00:00Z</dcterms:created>
  <dcterms:modified xsi:type="dcterms:W3CDTF">2026-09-30T05:30:22Z</dcterms:modified>
  <dc:identifier>DAHWZR02_fc</dc:identifier>
</cp:coreProperties>
</file>